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4"/>
  </p:normalViewPr>
  <p:slideViewPr>
    <p:cSldViewPr snapToGrid="0" snapToObjects="1" showGuides="1">
      <p:cViewPr varScale="1">
        <p:scale>
          <a:sx n="119" d="100"/>
          <a:sy n="119" d="100"/>
        </p:scale>
        <p:origin x="760" y="19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54A575C-39D1-D244-BF07-C1F984E99E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F5B593D3-3530-DB44-BBDD-AB54733A3B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83F9662-AF52-FD46-B482-B6467D150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5C8E2-6C4B-BA4B-BF2E-2191BFD8CEC4}" type="datetimeFigureOut">
              <a:rPr kumimoji="1" lang="zh-TW" altLang="en-US" smtClean="0"/>
              <a:t>2022/2/22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A3D80BE-9E2B-4848-89E9-AF819F4DF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04526F4-CA0E-7C4D-938D-67A166C92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20980-7802-BA43-9853-607A80CC853C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519808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E1BD909-063C-EE46-91B4-88A5EC2D0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F39474D-EF2A-8C46-A5C8-761F4E782E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993C47B-C322-F348-B6F6-6258ACE819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5C8E2-6C4B-BA4B-BF2E-2191BFD8CEC4}" type="datetimeFigureOut">
              <a:rPr kumimoji="1" lang="zh-TW" altLang="en-US" smtClean="0"/>
              <a:t>2022/2/22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B733DDE-1A01-6B42-9A09-2126B23E1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513BC32-C3DA-D74B-AB3A-4F1877C31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20980-7802-BA43-9853-607A80CC853C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6790046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C5131F4-21E2-2943-8088-A6CF39C11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29DC6B8-E268-844C-BF46-AA9D956F3F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0A6BCC0-C96D-F042-9DB1-C0103BCAA1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5C8E2-6C4B-BA4B-BF2E-2191BFD8CEC4}" type="datetimeFigureOut">
              <a:rPr kumimoji="1" lang="zh-TW" altLang="en-US" smtClean="0"/>
              <a:t>2022/2/22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076791F-4EB2-8B48-9EED-A381DCB8F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7830FB-86E8-7F43-8B04-CC964F998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20980-7802-BA43-9853-607A80CC853C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917962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BAB9F02-9BC6-1642-AB84-965E5B892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AFBD19E-89A4-354E-B856-637C0A70CB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FE72DF0-0036-0E42-8934-09195B96D3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C868CF6-6BC1-654E-9FA2-FB87D3B4C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5C8E2-6C4B-BA4B-BF2E-2191BFD8CEC4}" type="datetimeFigureOut">
              <a:rPr kumimoji="1" lang="zh-TW" altLang="en-US" smtClean="0"/>
              <a:t>2022/2/22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28F9CE4-0545-8B48-A216-37B61CE02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2374544-39C9-6849-A083-D96BB6F39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20980-7802-BA43-9853-607A80CC853C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7835195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FB92D7D-6187-5F4E-A75C-8BF5CC21B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4D97396-F644-094E-B147-60E4ED92E7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49DC5431-6B58-634E-9881-F867D2B799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C573A89D-581C-AF44-BABF-65C7CB166E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E5AC1912-0A82-F649-AA74-F525C9BE2F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01B0A636-B669-F545-BB82-78D768BA9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5C8E2-6C4B-BA4B-BF2E-2191BFD8CEC4}" type="datetimeFigureOut">
              <a:rPr kumimoji="1" lang="zh-TW" altLang="en-US" smtClean="0"/>
              <a:t>2022/2/22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61B8B70F-DEC2-074E-AFC6-B9BA335C4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063688B5-4340-7A40-B33D-B6BAE7165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20980-7802-BA43-9853-607A80CC853C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9421882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2414D72-64E5-9F46-9B69-583D59A8B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D815CD0-FD1E-B347-9979-C5A666C5C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5C8E2-6C4B-BA4B-BF2E-2191BFD8CEC4}" type="datetimeFigureOut">
              <a:rPr kumimoji="1" lang="zh-TW" altLang="en-US" smtClean="0"/>
              <a:t>2022/2/22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E1A625A8-56A0-5449-BD11-F7C7BF2DB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7E70509-777A-FA4B-8728-EEF97E0E0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20980-7802-BA43-9853-607A80CC853C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771514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95E26721-03D3-924E-AA46-AA6022DC7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5C8E2-6C4B-BA4B-BF2E-2191BFD8CEC4}" type="datetimeFigureOut">
              <a:rPr kumimoji="1" lang="zh-TW" altLang="en-US" smtClean="0"/>
              <a:t>2022/2/22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BD475482-94CA-2641-94CF-8FBDAE2D6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42E1F02-CDDF-5A4E-8C87-A09D3042B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20980-7802-BA43-9853-607A80CC853C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0987748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42AB274-8AED-5D4E-81E8-A47142E5C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2E23C71-B829-C242-BC69-40BAA35A2B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AA8C8A02-EDDA-0545-BA44-20DA38AD81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DA7341E-C536-A840-B3BA-4820A4A9F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5C8E2-6C4B-BA4B-BF2E-2191BFD8CEC4}" type="datetimeFigureOut">
              <a:rPr kumimoji="1" lang="zh-TW" altLang="en-US" smtClean="0"/>
              <a:t>2022/2/22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F46DDDD-A0A9-AA4D-9EF8-585D672CC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F422CD0-A27E-D544-81CB-E8AC9425F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20980-7802-BA43-9853-607A80CC853C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4418260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2C7759F-FDDF-384F-9F55-FAA4508D5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67725E6D-F992-304E-AC5B-81FA92D81A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2D30509-864C-4C41-948C-C3073FD39D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B9E0CAD-54A6-4E42-A0C1-E415A0EB8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5C8E2-6C4B-BA4B-BF2E-2191BFD8CEC4}" type="datetimeFigureOut">
              <a:rPr kumimoji="1" lang="zh-TW" altLang="en-US" smtClean="0"/>
              <a:t>2022/2/22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6E1FBCA-1CDB-3240-8911-C70E1141F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348DDBA-7435-2448-A744-7D664598D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20980-7802-BA43-9853-607A80CC853C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1746724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A4DAAA5-DC5C-C544-ABFB-A19FBF17D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5D242C1-0A5F-C948-BF7E-21C45AB20A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7B0C6C7-E197-8144-A7D2-8EDCBBC12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5C8E2-6C4B-BA4B-BF2E-2191BFD8CEC4}" type="datetimeFigureOut">
              <a:rPr kumimoji="1" lang="zh-TW" altLang="en-US" smtClean="0"/>
              <a:t>2022/2/22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BCA69BB-D010-5D49-AB34-2DA27B915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3EF4882-FCE7-9740-BEF9-DF874325C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20980-7802-BA43-9853-607A80CC853C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6108774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CCB38B3C-1EBF-6C4B-B382-578746FD37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38CBF0F8-0BB4-574A-86C1-1A2FBD768F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106BF37-9431-8448-9998-C3C742901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5C8E2-6C4B-BA4B-BF2E-2191BFD8CEC4}" type="datetimeFigureOut">
              <a:rPr kumimoji="1" lang="zh-TW" altLang="en-US" smtClean="0"/>
              <a:t>2022/2/22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BAE801E-AB67-CE42-A728-7154D1D56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ABE5937-D4A6-FC47-8670-E04E3B837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20980-7802-BA43-9853-607A80CC853C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7726507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CDD0FE6A-105D-1947-89A3-DF453F126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143FF36-66D3-404A-9AAA-5B002CE715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25CCAE5-F946-0448-83E3-6F3174197A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F5C8E2-6C4B-BA4B-BF2E-2191BFD8CEC4}" type="datetimeFigureOut">
              <a:rPr kumimoji="1" lang="zh-TW" altLang="en-US" smtClean="0"/>
              <a:t>2022/2/22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64E4D0D-7042-8D47-8FA8-4BC8165A54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5AA8A36-CD91-9343-9151-FE62B39A64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420980-7802-BA43-9853-607A80CC853C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448352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98A9793-8086-154E-AFE2-6189BBFF5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kumimoji="1" lang="zh-TW" altLang="en-US">
                <a:latin typeface="BiauKai" panose="02010601000101010101" pitchFamily="2" charset="-120"/>
                <a:ea typeface="BiauKai" panose="02010601000101010101" pitchFamily="2" charset="-120"/>
                <a:cs typeface="Times New Roman" panose="02020603050405020304" pitchFamily="18" charset="0"/>
              </a:rPr>
              <a:t>視覺搜尋作業－實驗介紹</a:t>
            </a:r>
            <a:endParaRPr kumimoji="1" lang="zh-TW" altLang="en-US" dirty="0">
              <a:latin typeface="BiauKai" panose="02010601000101010101" pitchFamily="2" charset="-120"/>
              <a:ea typeface="BiauKai" panose="02010601000101010101" pitchFamily="2" charset="-120"/>
              <a:cs typeface="Times New Roman" panose="02020603050405020304" pitchFamily="18" charset="0"/>
            </a:endParaRPr>
          </a:p>
        </p:txBody>
      </p:sp>
      <p:cxnSp>
        <p:nvCxnSpPr>
          <p:cNvPr id="26" name="直線箭頭接點 25">
            <a:extLst>
              <a:ext uri="{FF2B5EF4-FFF2-40B4-BE49-F238E27FC236}">
                <a16:creationId xmlns:a16="http://schemas.microsoft.com/office/drawing/2014/main" id="{C7820487-EBA3-2A4A-A87F-89E9EEC072C7}"/>
              </a:ext>
            </a:extLst>
          </p:cNvPr>
          <p:cNvCxnSpPr>
            <a:cxnSpLocks/>
          </p:cNvCxnSpPr>
          <p:nvPr/>
        </p:nvCxnSpPr>
        <p:spPr>
          <a:xfrm>
            <a:off x="1003610" y="6792621"/>
            <a:ext cx="1006411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內容版面配置區 18">
            <a:extLst>
              <a:ext uri="{FF2B5EF4-FFF2-40B4-BE49-F238E27FC236}">
                <a16:creationId xmlns:a16="http://schemas.microsoft.com/office/drawing/2014/main" id="{81C935D5-0247-0440-9763-5977556AE6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18608"/>
            <a:ext cx="10515600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TW" altLang="en-US" dirty="0">
                <a:latin typeface="BiauKai" panose="02010601000101010101" pitchFamily="2" charset="-120"/>
                <a:ea typeface="BiauKai" panose="02010601000101010101" pitchFamily="2" charset="-120"/>
              </a:rPr>
              <a:t>實驗一開始會在螢幕正中間出現凝視點，請注視著凝視點。接著，會出現一張由十個符號所組成的圖片，</a:t>
            </a:r>
            <a:r>
              <a:rPr lang="zh-TW" altLang="en-US" b="1" u="sng" dirty="0">
                <a:latin typeface="BiauKai" panose="02010601000101010101" pitchFamily="2" charset="-120"/>
                <a:ea typeface="BiauKai" panose="02010601000101010101" pitchFamily="2" charset="-120"/>
              </a:rPr>
              <a:t>請找出圖片中是否含有目標物</a:t>
            </a:r>
            <a:r>
              <a:rPr lang="en-US" altLang="zh-TW" b="1" u="sng" dirty="0">
                <a:latin typeface="BiauKai" panose="02010601000101010101" pitchFamily="2" charset="-120"/>
                <a:ea typeface="BiauKai" panose="02010601000101010101" pitchFamily="2" charset="-120"/>
              </a:rPr>
              <a:t>T</a:t>
            </a:r>
            <a:r>
              <a:rPr lang="zh-TW" altLang="en-US" b="1" u="sng" dirty="0">
                <a:latin typeface="BiauKai" panose="02010601000101010101" pitchFamily="2" charset="-120"/>
                <a:ea typeface="BiauKai" panose="02010601000101010101" pitchFamily="2" charset="-120"/>
              </a:rPr>
              <a:t>，</a:t>
            </a:r>
            <a:r>
              <a:rPr lang="zh-TW" altLang="en-US" dirty="0">
                <a:latin typeface="BiauKai" panose="02010601000101010101" pitchFamily="2" charset="-120"/>
                <a:ea typeface="BiauKai" panose="02010601000101010101" pitchFamily="2" charset="-120"/>
              </a:rPr>
              <a:t>倘若</a:t>
            </a:r>
            <a:r>
              <a:rPr lang="zh-TW" altLang="en-US" b="1" u="sng" dirty="0">
                <a:latin typeface="BiauKai" panose="02010601000101010101" pitchFamily="2" charset="-120"/>
                <a:ea typeface="BiauKai" panose="02010601000101010101" pitchFamily="2" charset="-120"/>
              </a:rPr>
              <a:t>有目標物請按</a:t>
            </a:r>
            <a:r>
              <a:rPr lang="en-US" altLang="zh-TW" b="1" u="sng" dirty="0">
                <a:latin typeface="BiauKai" panose="02010601000101010101" pitchFamily="2" charset="-120"/>
                <a:ea typeface="BiauKai" panose="02010601000101010101" pitchFamily="2" charset="-120"/>
              </a:rPr>
              <a:t>J</a:t>
            </a:r>
            <a:r>
              <a:rPr lang="zh-CN" altLang="en-US" b="1" u="sng" dirty="0">
                <a:latin typeface="BiauKai" panose="02010601000101010101" pitchFamily="2" charset="-120"/>
                <a:ea typeface="BiauKai" panose="02010601000101010101" pitchFamily="2" charset="-120"/>
              </a:rPr>
              <a:t>鍵</a:t>
            </a:r>
            <a:r>
              <a:rPr lang="zh-CN" altLang="en-US" dirty="0">
                <a:latin typeface="BiauKai" panose="02010601000101010101" pitchFamily="2" charset="-120"/>
                <a:ea typeface="BiauKai" panose="02010601000101010101" pitchFamily="2" charset="-120"/>
              </a:rPr>
              <a:t>；</a:t>
            </a:r>
            <a:r>
              <a:rPr lang="zh-TW" altLang="en-US" dirty="0">
                <a:latin typeface="BiauKai" panose="02010601000101010101" pitchFamily="2" charset="-120"/>
                <a:ea typeface="BiauKai" panose="02010601000101010101" pitchFamily="2" charset="-120"/>
              </a:rPr>
              <a:t>倘若</a:t>
            </a:r>
            <a:r>
              <a:rPr lang="zh-TW" altLang="en-US" b="1" u="sng" dirty="0">
                <a:latin typeface="BiauKai" panose="02010601000101010101" pitchFamily="2" charset="-120"/>
                <a:ea typeface="BiauKai" panose="02010601000101010101" pitchFamily="2" charset="-120"/>
              </a:rPr>
              <a:t>沒有目標物請按</a:t>
            </a:r>
            <a:r>
              <a:rPr lang="en-US" altLang="zh-TW" b="1" u="sng" dirty="0">
                <a:latin typeface="BiauKai" panose="02010601000101010101" pitchFamily="2" charset="-120"/>
                <a:ea typeface="BiauKai" panose="02010601000101010101" pitchFamily="2" charset="-120"/>
              </a:rPr>
              <a:t>F</a:t>
            </a:r>
            <a:r>
              <a:rPr lang="zh-CN" altLang="en-US" b="1" u="sng" dirty="0">
                <a:latin typeface="BiauKai" panose="02010601000101010101" pitchFamily="2" charset="-120"/>
                <a:ea typeface="BiauKai" panose="02010601000101010101" pitchFamily="2" charset="-120"/>
              </a:rPr>
              <a:t>鍵</a:t>
            </a:r>
            <a:r>
              <a:rPr lang="zh-CN" altLang="en-US" dirty="0">
                <a:latin typeface="BiauKai" panose="02010601000101010101" pitchFamily="2" charset="-120"/>
                <a:ea typeface="BiauKai" panose="02010601000101010101" pitchFamily="2" charset="-120"/>
              </a:rPr>
              <a:t>。每次最多只會有一個目標物出現，作答結束後都會有作答回饋，請盡可能正確且迅速作答。</a:t>
            </a:r>
            <a:endParaRPr lang="zh-TW" altLang="en-US" dirty="0">
              <a:latin typeface="BiauKai" panose="02010601000101010101" pitchFamily="2" charset="-120"/>
              <a:ea typeface="BiauKai" panose="02010601000101010101" pitchFamily="2" charset="-120"/>
            </a:endParaRPr>
          </a:p>
        </p:txBody>
      </p:sp>
      <p:grpSp>
        <p:nvGrpSpPr>
          <p:cNvPr id="22" name="群組 21">
            <a:extLst>
              <a:ext uri="{FF2B5EF4-FFF2-40B4-BE49-F238E27FC236}">
                <a16:creationId xmlns:a16="http://schemas.microsoft.com/office/drawing/2014/main" id="{F39D4C42-DFCC-9846-9980-510663391544}"/>
              </a:ext>
            </a:extLst>
          </p:cNvPr>
          <p:cNvGrpSpPr/>
          <p:nvPr/>
        </p:nvGrpSpPr>
        <p:grpSpPr>
          <a:xfrm>
            <a:off x="1926145" y="4667080"/>
            <a:ext cx="1820719" cy="2093563"/>
            <a:chOff x="1278206" y="4454138"/>
            <a:chExt cx="1820719" cy="2093563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3576B7A4-3A9A-6F4A-9B3E-FBB842524BE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78206" y="4454138"/>
              <a:ext cx="1820719" cy="1260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dirty="0"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  <a:endParaRPr kumimoji="1" lang="zh-TW" alt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文字方塊 19">
              <a:extLst>
                <a:ext uri="{FF2B5EF4-FFF2-40B4-BE49-F238E27FC236}">
                  <a16:creationId xmlns:a16="http://schemas.microsoft.com/office/drawing/2014/main" id="{15A94DC9-487C-DE47-BA70-C6FE36F858E3}"/>
                </a:ext>
              </a:extLst>
            </p:cNvPr>
            <p:cNvSpPr txBox="1"/>
            <p:nvPr/>
          </p:nvSpPr>
          <p:spPr>
            <a:xfrm>
              <a:off x="1278206" y="5901370"/>
              <a:ext cx="180850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zh-TW" altLang="en-US" dirty="0">
                  <a:latin typeface="BiauKai" panose="02010601000101010101" pitchFamily="2" charset="-120"/>
                  <a:ea typeface="BiauKai" panose="02010601000101010101" pitchFamily="2" charset="-120"/>
                </a:rPr>
                <a:t>凝視點</a:t>
              </a:r>
              <a:endParaRPr kumimoji="1" lang="en-US" altLang="zh-TW" dirty="0">
                <a:latin typeface="BiauKai" panose="02010601000101010101" pitchFamily="2" charset="-120"/>
                <a:ea typeface="BiauKai" panose="02010601000101010101" pitchFamily="2" charset="-120"/>
              </a:endParaRPr>
            </a:p>
            <a:p>
              <a:pPr algn="ctr"/>
              <a:r>
                <a:rPr kumimoji="1" lang="en-US" altLang="zh-TW" dirty="0">
                  <a:latin typeface="BiauKai" panose="02010601000101010101" pitchFamily="2" charset="-120"/>
                  <a:ea typeface="BiauKai" panose="02010601000101010101" pitchFamily="2" charset="-120"/>
                </a:rPr>
                <a:t>1500 - 1800 </a:t>
              </a:r>
              <a:r>
                <a:rPr kumimoji="1" lang="zh-CN" altLang="en-US" dirty="0">
                  <a:latin typeface="BiauKai" panose="02010601000101010101" pitchFamily="2" charset="-120"/>
                  <a:ea typeface="BiauKai" panose="02010601000101010101" pitchFamily="2" charset="-120"/>
                </a:rPr>
                <a:t>毫秒</a:t>
              </a:r>
              <a:endParaRPr kumimoji="1" lang="zh-TW" altLang="en-US" dirty="0">
                <a:latin typeface="BiauKai" panose="02010601000101010101" pitchFamily="2" charset="-120"/>
                <a:ea typeface="BiauKai" panose="02010601000101010101" pitchFamily="2" charset="-120"/>
              </a:endParaRPr>
            </a:p>
          </p:txBody>
        </p:sp>
      </p:grp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A0F443AF-5B18-A943-94BE-B634DD4F98AF}"/>
              </a:ext>
            </a:extLst>
          </p:cNvPr>
          <p:cNvSpPr txBox="1"/>
          <p:nvPr/>
        </p:nvSpPr>
        <p:spPr>
          <a:xfrm>
            <a:off x="4875149" y="6114312"/>
            <a:ext cx="24673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TW" altLang="en-US" dirty="0">
                <a:latin typeface="BiauKai" panose="02010601000101010101" pitchFamily="2" charset="-120"/>
                <a:ea typeface="BiauKai" panose="02010601000101010101" pitchFamily="2" charset="-120"/>
              </a:rPr>
              <a:t>刺激物圖片</a:t>
            </a:r>
            <a:endParaRPr kumimoji="1" lang="en-US" altLang="zh-TW" dirty="0">
              <a:latin typeface="BiauKai" panose="02010601000101010101" pitchFamily="2" charset="-120"/>
              <a:ea typeface="BiauKai" panose="02010601000101010101" pitchFamily="2" charset="-120"/>
            </a:endParaRPr>
          </a:p>
          <a:p>
            <a:pPr algn="ctr"/>
            <a:r>
              <a:rPr kumimoji="1" lang="en-US" altLang="zh-CN" dirty="0">
                <a:latin typeface="BiauKai" panose="02010601000101010101" pitchFamily="2" charset="-120"/>
                <a:ea typeface="BiauKai" panose="02010601000101010101" pitchFamily="2" charset="-120"/>
              </a:rPr>
              <a:t>3000 </a:t>
            </a:r>
            <a:r>
              <a:rPr kumimoji="1" lang="zh-CN" altLang="en-US" dirty="0">
                <a:latin typeface="BiauKai" panose="02010601000101010101" pitchFamily="2" charset="-120"/>
                <a:ea typeface="BiauKai" panose="02010601000101010101" pitchFamily="2" charset="-120"/>
              </a:rPr>
              <a:t>毫秒</a:t>
            </a:r>
            <a:r>
              <a:rPr kumimoji="1" lang="zh-TW" altLang="en-US" dirty="0">
                <a:latin typeface="BiauKai" panose="02010601000101010101" pitchFamily="2" charset="-120"/>
                <a:ea typeface="BiauKai" panose="02010601000101010101" pitchFamily="2" charset="-120"/>
              </a:rPr>
              <a:t> 或 直到反應</a:t>
            </a:r>
          </a:p>
        </p:txBody>
      </p:sp>
      <p:grpSp>
        <p:nvGrpSpPr>
          <p:cNvPr id="21" name="群組 20">
            <a:extLst>
              <a:ext uri="{FF2B5EF4-FFF2-40B4-BE49-F238E27FC236}">
                <a16:creationId xmlns:a16="http://schemas.microsoft.com/office/drawing/2014/main" id="{A68D8BAE-34EB-6743-8BD3-2010030A042E}"/>
              </a:ext>
            </a:extLst>
          </p:cNvPr>
          <p:cNvGrpSpPr/>
          <p:nvPr/>
        </p:nvGrpSpPr>
        <p:grpSpPr>
          <a:xfrm>
            <a:off x="8899550" y="4668373"/>
            <a:ext cx="1822153" cy="2092270"/>
            <a:chOff x="9125018" y="4455431"/>
            <a:chExt cx="1822153" cy="2092270"/>
          </a:xfrm>
        </p:grpSpPr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550E8639-E9DF-AA4D-AC05-A94A63F4772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125018" y="4455431"/>
              <a:ext cx="1822153" cy="1260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Correct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文字方塊 26">
              <a:extLst>
                <a:ext uri="{FF2B5EF4-FFF2-40B4-BE49-F238E27FC236}">
                  <a16:creationId xmlns:a16="http://schemas.microsoft.com/office/drawing/2014/main" id="{4725CDFE-1EEA-F043-B1C1-65864E155763}"/>
                </a:ext>
              </a:extLst>
            </p:cNvPr>
            <p:cNvSpPr txBox="1"/>
            <p:nvPr/>
          </p:nvSpPr>
          <p:spPr>
            <a:xfrm>
              <a:off x="9482096" y="5901370"/>
              <a:ext cx="1107996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zh-TW" altLang="en-US" dirty="0">
                  <a:latin typeface="BiauKai" panose="02010601000101010101" pitchFamily="2" charset="-120"/>
                  <a:ea typeface="BiauKai" panose="02010601000101010101" pitchFamily="2" charset="-120"/>
                </a:rPr>
                <a:t>作答回饋</a:t>
              </a:r>
              <a:endParaRPr kumimoji="1" lang="en-US" altLang="zh-TW" dirty="0">
                <a:latin typeface="BiauKai" panose="02010601000101010101" pitchFamily="2" charset="-120"/>
                <a:ea typeface="BiauKai" panose="02010601000101010101" pitchFamily="2" charset="-120"/>
              </a:endParaRPr>
            </a:p>
            <a:p>
              <a:pPr algn="ctr"/>
              <a:r>
                <a:rPr kumimoji="1" lang="en-US" altLang="zh-CN" dirty="0">
                  <a:latin typeface="BiauKai" panose="02010601000101010101" pitchFamily="2" charset="-120"/>
                  <a:ea typeface="BiauKai" panose="02010601000101010101" pitchFamily="2" charset="-120"/>
                </a:rPr>
                <a:t>500 </a:t>
              </a:r>
              <a:r>
                <a:rPr kumimoji="1" lang="zh-CN" altLang="en-US" dirty="0">
                  <a:latin typeface="BiauKai" panose="02010601000101010101" pitchFamily="2" charset="-120"/>
                  <a:ea typeface="BiauKai" panose="02010601000101010101" pitchFamily="2" charset="-120"/>
                </a:rPr>
                <a:t>毫秒</a:t>
              </a:r>
              <a:endParaRPr kumimoji="1" lang="zh-TW" altLang="en-US" dirty="0">
                <a:latin typeface="BiauKai" panose="02010601000101010101" pitchFamily="2" charset="-120"/>
                <a:ea typeface="BiauKai" panose="02010601000101010101" pitchFamily="2" charset="-120"/>
              </a:endParaRPr>
            </a:p>
          </p:txBody>
        </p:sp>
      </p:grpSp>
      <p:grpSp>
        <p:nvGrpSpPr>
          <p:cNvPr id="34" name="群組 33">
            <a:extLst>
              <a:ext uri="{FF2B5EF4-FFF2-40B4-BE49-F238E27FC236}">
                <a16:creationId xmlns:a16="http://schemas.microsoft.com/office/drawing/2014/main" id="{362BC279-3EF3-9048-8F8C-FE37986960B7}"/>
              </a:ext>
            </a:extLst>
          </p:cNvPr>
          <p:cNvGrpSpPr/>
          <p:nvPr/>
        </p:nvGrpSpPr>
        <p:grpSpPr>
          <a:xfrm>
            <a:off x="5187868" y="3547785"/>
            <a:ext cx="1822153" cy="1260000"/>
            <a:chOff x="5313416" y="3906347"/>
            <a:chExt cx="1822153" cy="1260000"/>
          </a:xfrm>
        </p:grpSpPr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EC500BBE-C718-3044-9CAF-D1A65CB665D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313416" y="3906347"/>
              <a:ext cx="1822153" cy="1260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pic>
          <p:nvPicPr>
            <p:cNvPr id="33" name="圖片 32">
              <a:extLst>
                <a:ext uri="{FF2B5EF4-FFF2-40B4-BE49-F238E27FC236}">
                  <a16:creationId xmlns:a16="http://schemas.microsoft.com/office/drawing/2014/main" id="{7FE4A2B5-6A64-9E46-BB1A-0295AB45D7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740302" y="4042279"/>
              <a:ext cx="988135" cy="988135"/>
            </a:xfrm>
            <a:prstGeom prst="rect">
              <a:avLst/>
            </a:prstGeom>
          </p:spPr>
        </p:pic>
      </p:grpSp>
      <p:grpSp>
        <p:nvGrpSpPr>
          <p:cNvPr id="40" name="群組 39">
            <a:extLst>
              <a:ext uri="{FF2B5EF4-FFF2-40B4-BE49-F238E27FC236}">
                <a16:creationId xmlns:a16="http://schemas.microsoft.com/office/drawing/2014/main" id="{57BD1F77-96F8-0845-9821-A391887A7067}"/>
              </a:ext>
            </a:extLst>
          </p:cNvPr>
          <p:cNvGrpSpPr/>
          <p:nvPr/>
        </p:nvGrpSpPr>
        <p:grpSpPr>
          <a:xfrm>
            <a:off x="5187867" y="4871027"/>
            <a:ext cx="1822153" cy="1260000"/>
            <a:chOff x="6832044" y="5069001"/>
            <a:chExt cx="1822153" cy="1260000"/>
          </a:xfrm>
        </p:grpSpPr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5D9598E2-4A33-CA45-A245-51AA474A368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32044" y="5069001"/>
              <a:ext cx="1822153" cy="1260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pic>
          <p:nvPicPr>
            <p:cNvPr id="39" name="圖片 38">
              <a:extLst>
                <a:ext uri="{FF2B5EF4-FFF2-40B4-BE49-F238E27FC236}">
                  <a16:creationId xmlns:a16="http://schemas.microsoft.com/office/drawing/2014/main" id="{09CA2E56-E222-5A43-AE68-4292726107B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267896" y="5204001"/>
              <a:ext cx="990000" cy="990000"/>
            </a:xfrm>
            <a:prstGeom prst="rect">
              <a:avLst/>
            </a:prstGeom>
          </p:spPr>
        </p:pic>
      </p:grp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6D28DB8C-A65C-4345-B076-37D4E22211A9}"/>
              </a:ext>
            </a:extLst>
          </p:cNvPr>
          <p:cNvSpPr txBox="1"/>
          <p:nvPr/>
        </p:nvSpPr>
        <p:spPr>
          <a:xfrm>
            <a:off x="7242143" y="3854618"/>
            <a:ext cx="11079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dirty="0">
                <a:latin typeface="BiauKai" panose="02010601000101010101" pitchFamily="2" charset="-120"/>
                <a:ea typeface="BiauKai" panose="02010601000101010101" pitchFamily="2" charset="-120"/>
              </a:rPr>
              <a:t>有</a:t>
            </a:r>
            <a:r>
              <a:rPr kumimoji="1" lang="zh-TW" altLang="en-US" dirty="0">
                <a:latin typeface="BiauKai" panose="02010601000101010101" pitchFamily="2" charset="-120"/>
                <a:ea typeface="BiauKai" panose="02010601000101010101" pitchFamily="2" charset="-120"/>
              </a:rPr>
              <a:t>目標物</a:t>
            </a:r>
          </a:p>
          <a:p>
            <a:pPr algn="ctr"/>
            <a:r>
              <a:rPr kumimoji="1" lang="zh-TW" altLang="en-US" dirty="0">
                <a:latin typeface="BiauKai" panose="02010601000101010101" pitchFamily="2" charset="-120"/>
                <a:ea typeface="BiauKai" panose="02010601000101010101" pitchFamily="2" charset="-120"/>
              </a:rPr>
              <a:t>按 </a:t>
            </a:r>
            <a:r>
              <a:rPr kumimoji="1" lang="en" altLang="zh-TW" dirty="0">
                <a:latin typeface="BiauKai" panose="02010601000101010101" pitchFamily="2" charset="-120"/>
                <a:ea typeface="BiauKai" panose="02010601000101010101" pitchFamily="2" charset="-120"/>
              </a:rPr>
              <a:t>J</a:t>
            </a:r>
            <a:r>
              <a:rPr kumimoji="1" lang="zh-TW" altLang="en-US" dirty="0">
                <a:latin typeface="BiauKai" panose="02010601000101010101" pitchFamily="2" charset="-120"/>
                <a:ea typeface="BiauKai" panose="02010601000101010101" pitchFamily="2" charset="-120"/>
              </a:rPr>
              <a:t> 鍵</a:t>
            </a:r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76FE81F6-E423-FF40-B8E4-308AF2636C34}"/>
              </a:ext>
            </a:extLst>
          </p:cNvPr>
          <p:cNvSpPr txBox="1"/>
          <p:nvPr/>
        </p:nvSpPr>
        <p:spPr>
          <a:xfrm>
            <a:off x="7251111" y="5177861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TW" altLang="en-US" dirty="0">
                <a:latin typeface="BiauKai" panose="02010601000101010101" pitchFamily="2" charset="-120"/>
                <a:ea typeface="BiauKai" panose="02010601000101010101" pitchFamily="2" charset="-120"/>
              </a:rPr>
              <a:t>無目標物</a:t>
            </a:r>
          </a:p>
          <a:p>
            <a:pPr algn="ctr"/>
            <a:r>
              <a:rPr kumimoji="1" lang="zh-TW" altLang="en-US" dirty="0">
                <a:latin typeface="BiauKai" panose="02010601000101010101" pitchFamily="2" charset="-120"/>
                <a:ea typeface="BiauKai" panose="02010601000101010101" pitchFamily="2" charset="-120"/>
              </a:rPr>
              <a:t>按</a:t>
            </a:r>
            <a:r>
              <a:rPr kumimoji="1" lang="en-US" altLang="zh-TW" dirty="0">
                <a:latin typeface="BiauKai" panose="02010601000101010101" pitchFamily="2" charset="-120"/>
                <a:ea typeface="BiauKai" panose="02010601000101010101" pitchFamily="2" charset="-120"/>
              </a:rPr>
              <a:t> </a:t>
            </a:r>
            <a:r>
              <a:rPr kumimoji="1" lang="en" altLang="zh-TW" dirty="0">
                <a:latin typeface="BiauKai" panose="02010601000101010101" pitchFamily="2" charset="-120"/>
                <a:ea typeface="BiauKai" panose="02010601000101010101" pitchFamily="2" charset="-120"/>
              </a:rPr>
              <a:t>F </a:t>
            </a:r>
            <a:r>
              <a:rPr kumimoji="1" lang="zh-TW" altLang="en-US" dirty="0">
                <a:latin typeface="BiauKai" panose="02010601000101010101" pitchFamily="2" charset="-120"/>
                <a:ea typeface="BiauKai" panose="02010601000101010101" pitchFamily="2" charset="-120"/>
              </a:rPr>
              <a:t>鍵</a:t>
            </a:r>
          </a:p>
        </p:txBody>
      </p:sp>
      <p:cxnSp>
        <p:nvCxnSpPr>
          <p:cNvPr id="47" name="直線箭頭接點 46">
            <a:extLst>
              <a:ext uri="{FF2B5EF4-FFF2-40B4-BE49-F238E27FC236}">
                <a16:creationId xmlns:a16="http://schemas.microsoft.com/office/drawing/2014/main" id="{E3A6F78D-BA09-5646-973D-9EA560556144}"/>
              </a:ext>
            </a:extLst>
          </p:cNvPr>
          <p:cNvCxnSpPr>
            <a:cxnSpLocks/>
          </p:cNvCxnSpPr>
          <p:nvPr/>
        </p:nvCxnSpPr>
        <p:spPr>
          <a:xfrm flipH="1">
            <a:off x="6488483" y="4241411"/>
            <a:ext cx="701457" cy="15522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群組 2">
            <a:extLst>
              <a:ext uri="{FF2B5EF4-FFF2-40B4-BE49-F238E27FC236}">
                <a16:creationId xmlns:a16="http://schemas.microsoft.com/office/drawing/2014/main" id="{506C4C2E-737F-BE46-B99D-CE26A2E95C0E}"/>
              </a:ext>
            </a:extLst>
          </p:cNvPr>
          <p:cNvGrpSpPr/>
          <p:nvPr/>
        </p:nvGrpSpPr>
        <p:grpSpPr>
          <a:xfrm>
            <a:off x="71551" y="4758651"/>
            <a:ext cx="1370146" cy="1022590"/>
            <a:chOff x="153127" y="5313530"/>
            <a:chExt cx="1370146" cy="1022590"/>
          </a:xfrm>
        </p:grpSpPr>
        <p:pic>
          <p:nvPicPr>
            <p:cNvPr id="23" name="圖片 22">
              <a:extLst>
                <a:ext uri="{FF2B5EF4-FFF2-40B4-BE49-F238E27FC236}">
                  <a16:creationId xmlns:a16="http://schemas.microsoft.com/office/drawing/2014/main" id="{85DB3D2A-3026-CB4A-9385-8F240275B1E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5206" t="12970" r="33382" b="34843"/>
            <a:stretch/>
          </p:blipFill>
          <p:spPr>
            <a:xfrm>
              <a:off x="153127" y="5726447"/>
              <a:ext cx="1370146" cy="609673"/>
            </a:xfrm>
            <a:prstGeom prst="rect">
              <a:avLst/>
            </a:prstGeom>
          </p:spPr>
        </p:pic>
        <p:sp>
          <p:nvSpPr>
            <p:cNvPr id="24" name="文字方塊 23">
              <a:extLst>
                <a:ext uri="{FF2B5EF4-FFF2-40B4-BE49-F238E27FC236}">
                  <a16:creationId xmlns:a16="http://schemas.microsoft.com/office/drawing/2014/main" id="{7012ED01-58A3-D041-A8A3-A4C9655F5E9D}"/>
                </a:ext>
              </a:extLst>
            </p:cNvPr>
            <p:cNvSpPr txBox="1"/>
            <p:nvPr/>
          </p:nvSpPr>
          <p:spPr>
            <a:xfrm>
              <a:off x="408965" y="5313530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zh-TW" altLang="en-US" dirty="0">
                  <a:latin typeface="BiauKai" panose="02010601000101010101" pitchFamily="2" charset="-120"/>
                  <a:ea typeface="BiauKai" panose="02010601000101010101" pitchFamily="2" charset="-120"/>
                </a:rPr>
                <a:t>目標物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721556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124</Words>
  <Application>Microsoft Macintosh PowerPoint</Application>
  <PresentationFormat>寬螢幕</PresentationFormat>
  <Paragraphs>15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8" baseType="lpstr">
      <vt:lpstr>新細明體</vt:lpstr>
      <vt:lpstr>BiauKai</vt:lpstr>
      <vt:lpstr>Arial</vt:lpstr>
      <vt:lpstr>Calibri</vt:lpstr>
      <vt:lpstr>Calibri Light</vt:lpstr>
      <vt:lpstr>Times New Roman</vt:lpstr>
      <vt:lpstr>Office 佈景主題</vt:lpstr>
      <vt:lpstr>視覺搜尋作業－實驗介紹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Hao-Lun Fu</dc:creator>
  <cp:lastModifiedBy>Hao-Lun Fu</cp:lastModifiedBy>
  <cp:revision>9</cp:revision>
  <dcterms:created xsi:type="dcterms:W3CDTF">2021-07-08T19:18:41Z</dcterms:created>
  <dcterms:modified xsi:type="dcterms:W3CDTF">2022-02-22T07:55:45Z</dcterms:modified>
</cp:coreProperties>
</file>