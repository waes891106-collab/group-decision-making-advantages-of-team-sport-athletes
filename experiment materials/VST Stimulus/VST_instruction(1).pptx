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 showGuides="1">
      <p:cViewPr varScale="1">
        <p:scale>
          <a:sx n="79" d="100"/>
          <a:sy n="79" d="100"/>
        </p:scale>
        <p:origin x="821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4A575C-39D1-D244-BF07-C1F984E9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5B593D3-3530-DB44-BBDD-AB54733A3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3F9662-AF52-FD46-B482-B6467D150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2022/8/21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3D80BE-9E2B-4848-89E9-AF819F4DF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4526F4-CA0E-7C4D-938D-67A166C92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19808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1BD909-063C-EE46-91B4-88A5EC2D0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39474D-EF2A-8C46-A5C8-761F4E782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93C47B-C322-F348-B6F6-6258ACE8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2022/8/21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B733DDE-1A01-6B42-9A09-2126B23E1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13BC32-C3DA-D74B-AB3A-4F1877C3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7900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5131F4-21E2-2943-8088-A6CF39C1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9DC6B8-E268-844C-BF46-AA9D956F3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A6BCC0-C96D-F042-9DB1-C0103BCA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2022/8/21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76791F-4EB2-8B48-9EED-A381DCB8F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7830FB-86E8-7F43-8B04-CC964F998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1796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AB9F02-9BC6-1642-AB84-965E5B892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FBD19E-89A4-354E-B856-637C0A70C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FE72DF0-0036-0E42-8934-09195B96D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C868CF6-6BC1-654E-9FA2-FB87D3B4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2022/8/21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28F9CE4-0545-8B48-A216-37B61CE0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374544-39C9-6849-A083-D96BB6F39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3519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B92D7D-6187-5F4E-A75C-8BF5CC21B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4D97396-F644-094E-B147-60E4ED92E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9DC5431-6B58-634E-9881-F867D2B79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573A89D-581C-AF44-BABF-65C7CB166E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5AC1912-0A82-F649-AA74-F525C9BE2F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1B0A636-B669-F545-BB82-78D768BA9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2022/8/21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1B8B70F-DEC2-074E-AFC6-B9BA335C4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63688B5-4340-7A40-B33D-B6BAE7165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42188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414D72-64E5-9F46-9B69-583D59A8B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815CD0-FD1E-B347-9979-C5A666C5C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2022/8/21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1A625A8-56A0-5449-BD11-F7C7BF2DB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7E70509-777A-FA4B-8728-EEF97E0E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7151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5E26721-03D3-924E-AA46-AA6022DC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2022/8/21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D475482-94CA-2641-94CF-8FBDAE2D6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2E1F02-CDDF-5A4E-8C87-A09D3042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98774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2AB274-8AED-5D4E-81E8-A47142E5C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E23C71-B829-C242-BC69-40BAA35A2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A8C8A02-EDDA-0545-BA44-20DA38AD8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DA7341E-C536-A840-B3BA-4820A4A9F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2022/8/21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F46DDDD-A0A9-AA4D-9EF8-585D672CC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F422CD0-A27E-D544-81CB-E8AC9425F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41826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C7759F-FDDF-384F-9F55-FAA4508D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7725E6D-F992-304E-AC5B-81FA92D81A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D30509-864C-4C41-948C-C3073FD39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9E0CAD-54A6-4E42-A0C1-E415A0EB8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2022/8/21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6E1FBCA-1CDB-3240-8911-C70E1141F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48DDBA-7435-2448-A744-7D664598D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74672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DAAA5-DC5C-C544-ABFB-A19FBF17D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5D242C1-0A5F-C948-BF7E-21C45AB20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B0C6C7-E197-8144-A7D2-8EDCBBC12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2022/8/21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BCA69BB-D010-5D49-AB34-2DA27B91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EF4882-FCE7-9740-BEF9-DF874325C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10877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CB38B3C-1EBF-6C4B-B382-578746FD37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8CBF0F8-0BB4-574A-86C1-1A2FBD768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06BF37-9431-8448-9998-C3C742901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5C8E2-6C4B-BA4B-BF2E-2191BFD8CEC4}" type="datetimeFigureOut">
              <a:rPr kumimoji="1" lang="zh-TW" altLang="en-US" smtClean="0"/>
              <a:t>2022/8/21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AE801E-AB67-CE42-A728-7154D1D56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BE5937-D4A6-FC47-8670-E04E3B837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72650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DD0FE6A-105D-1947-89A3-DF453F126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43FF36-66D3-404A-9AAA-5B002CE71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5CCAE5-F946-0448-83E3-6F3174197A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5C8E2-6C4B-BA4B-BF2E-2191BFD8CEC4}" type="datetimeFigureOut">
              <a:rPr kumimoji="1" lang="zh-TW" altLang="en-US" smtClean="0"/>
              <a:t>2022/8/21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4E4D0D-7042-8D47-8FA8-4BC8165A5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AA8A36-CD91-9343-9151-FE62B39A6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20980-7802-BA43-9853-607A80CC85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4835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8A9793-8086-154E-AFE2-6189BBFF5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  <a:cs typeface="Times New Roman" panose="02020603050405020304" pitchFamily="18" charset="0"/>
              </a:rPr>
              <a:t>視覺搜尋作業－實驗介紹</a:t>
            </a:r>
          </a:p>
        </p:txBody>
      </p: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C7820487-EBA3-2A4A-A87F-89E9EEC072C7}"/>
              </a:ext>
            </a:extLst>
          </p:cNvPr>
          <p:cNvCxnSpPr>
            <a:cxnSpLocks/>
          </p:cNvCxnSpPr>
          <p:nvPr/>
        </p:nvCxnSpPr>
        <p:spPr>
          <a:xfrm>
            <a:off x="1003610" y="6792621"/>
            <a:ext cx="1006411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內容版面配置區 18">
            <a:extLst>
              <a:ext uri="{FF2B5EF4-FFF2-40B4-BE49-F238E27FC236}">
                <a16:creationId xmlns:a16="http://schemas.microsoft.com/office/drawing/2014/main" id="{81C935D5-0247-0440-9763-5977556AE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451" y="1069750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2400" dirty="0">
                <a:latin typeface="BiauKai" panose="02010601000101010101" pitchFamily="2" charset="-120"/>
                <a:ea typeface="BiauKai" panose="02010601000101010101" pitchFamily="2" charset="-120"/>
              </a:rPr>
              <a:t>實驗一開始會在螢幕正中間出現凝視點，請注視著凝視點。接著，會出現一張由三十個符號所組成的圖片，</a:t>
            </a:r>
            <a:r>
              <a:rPr lang="zh-TW" altLang="en-US" sz="2400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請找出圖片中是否含有目標物</a:t>
            </a:r>
            <a:r>
              <a:rPr lang="en-US" altLang="zh-TW" sz="2400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T</a:t>
            </a:r>
            <a:r>
              <a:rPr lang="zh-TW" altLang="en-US" sz="2400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，</a:t>
            </a:r>
            <a:r>
              <a:rPr lang="zh-TW" altLang="en-US" sz="2400" dirty="0">
                <a:latin typeface="BiauKai" panose="02010601000101010101" pitchFamily="2" charset="-120"/>
                <a:ea typeface="BiauKai" panose="02010601000101010101" pitchFamily="2" charset="-120"/>
              </a:rPr>
              <a:t>倘若沒</a:t>
            </a:r>
            <a:r>
              <a:rPr lang="zh-TW" altLang="en-US" sz="2400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有目標物請按</a:t>
            </a:r>
            <a:r>
              <a:rPr lang="en-US" altLang="zh-TW" sz="2400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F</a:t>
            </a:r>
            <a:r>
              <a:rPr lang="zh-CN" altLang="en-US" sz="2400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鍵</a:t>
            </a:r>
            <a:r>
              <a:rPr lang="zh-CN" altLang="en-US" sz="2400" dirty="0">
                <a:latin typeface="BiauKai" panose="02010601000101010101" pitchFamily="2" charset="-120"/>
                <a:ea typeface="BiauKai" panose="02010601000101010101" pitchFamily="2" charset="-120"/>
              </a:rPr>
              <a:t>；</a:t>
            </a:r>
            <a:r>
              <a:rPr lang="zh-TW" altLang="en-US" sz="2400" dirty="0">
                <a:latin typeface="BiauKai" panose="02010601000101010101" pitchFamily="2" charset="-120"/>
                <a:ea typeface="BiauKai" panose="02010601000101010101" pitchFamily="2" charset="-120"/>
              </a:rPr>
              <a:t>倘若</a:t>
            </a:r>
            <a:r>
              <a:rPr lang="zh-TW" altLang="en-US" sz="2400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有一個目標物請按</a:t>
            </a:r>
            <a:r>
              <a:rPr lang="en-US" altLang="zh-TW" sz="2400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J</a:t>
            </a:r>
            <a:r>
              <a:rPr lang="zh-CN" altLang="en-US" sz="2400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鍵</a:t>
            </a:r>
            <a:r>
              <a:rPr lang="zh-TW" altLang="en-US" sz="2400" dirty="0">
                <a:ea typeface="BiauKai" panose="02010601000101010101" pitchFamily="2" charset="-120"/>
              </a:rPr>
              <a:t>；倘若</a:t>
            </a:r>
            <a:r>
              <a:rPr lang="zh-TW" altLang="en-US" sz="2400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有兩個目標物請按</a:t>
            </a:r>
            <a:r>
              <a:rPr lang="en-US" altLang="zh-TW" sz="2400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K</a:t>
            </a:r>
            <a:r>
              <a:rPr lang="zh-TW" altLang="en-US" sz="2400" b="1" u="sng" dirty="0">
                <a:latin typeface="BiauKai" panose="02010601000101010101" pitchFamily="2" charset="-120"/>
                <a:ea typeface="BiauKai" panose="02010601000101010101" pitchFamily="2" charset="-120"/>
              </a:rPr>
              <a:t>鍵</a:t>
            </a:r>
            <a:r>
              <a:rPr lang="zh-CN" altLang="en-US" sz="2400" dirty="0">
                <a:latin typeface="BiauKai" panose="02010601000101010101" pitchFamily="2" charset="-120"/>
                <a:ea typeface="BiauKai" panose="02010601000101010101" pitchFamily="2" charset="-120"/>
              </a:rPr>
              <a:t>。每次最多只會有</a:t>
            </a:r>
            <a:r>
              <a:rPr lang="zh-TW" altLang="en-US" sz="2400" dirty="0">
                <a:latin typeface="BiauKai" panose="02010601000101010101" pitchFamily="2" charset="-120"/>
                <a:ea typeface="BiauKai" panose="02010601000101010101" pitchFamily="2" charset="-120"/>
              </a:rPr>
              <a:t>兩</a:t>
            </a:r>
            <a:r>
              <a:rPr lang="zh-CN" altLang="en-US" sz="2400" dirty="0">
                <a:latin typeface="BiauKai" panose="02010601000101010101" pitchFamily="2" charset="-120"/>
                <a:ea typeface="BiauKai" panose="02010601000101010101" pitchFamily="2" charset="-120"/>
              </a:rPr>
              <a:t>個目標物出現，作答結束後都會有作答回饋，請盡可能正確且迅速作答。</a:t>
            </a:r>
            <a:endParaRPr lang="zh-TW" altLang="en-US" sz="2400" dirty="0">
              <a:latin typeface="BiauKai" panose="02010601000101010101" pitchFamily="2" charset="-120"/>
              <a:ea typeface="BiauKai" panose="02010601000101010101" pitchFamily="2" charset="-120"/>
            </a:endParaRP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F39D4C42-DFCC-9846-9980-510663391544}"/>
              </a:ext>
            </a:extLst>
          </p:cNvPr>
          <p:cNvGrpSpPr/>
          <p:nvPr/>
        </p:nvGrpSpPr>
        <p:grpSpPr>
          <a:xfrm>
            <a:off x="1926145" y="4667080"/>
            <a:ext cx="1820719" cy="2093563"/>
            <a:chOff x="1278206" y="4454138"/>
            <a:chExt cx="1820719" cy="209356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576B7A4-3A9A-6F4A-9B3E-FBB842524B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78206" y="4454138"/>
              <a:ext cx="1820719" cy="12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kumimoji="1" lang="zh-TW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15A94DC9-487C-DE47-BA70-C6FE36F858E3}"/>
                </a:ext>
              </a:extLst>
            </p:cNvPr>
            <p:cNvSpPr txBox="1"/>
            <p:nvPr/>
          </p:nvSpPr>
          <p:spPr>
            <a:xfrm>
              <a:off x="1278206" y="5901370"/>
              <a:ext cx="180850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dirty="0">
                  <a:latin typeface="BiauKai" panose="02010601000101010101" pitchFamily="2" charset="-120"/>
                  <a:ea typeface="BiauKai" panose="02010601000101010101" pitchFamily="2" charset="-120"/>
                </a:rPr>
                <a:t>凝視點</a:t>
              </a:r>
              <a:endParaRPr kumimoji="1" lang="en-US" altLang="zh-TW" dirty="0">
                <a:latin typeface="BiauKai" panose="02010601000101010101" pitchFamily="2" charset="-120"/>
                <a:ea typeface="BiauKai" panose="02010601000101010101" pitchFamily="2" charset="-120"/>
              </a:endParaRPr>
            </a:p>
            <a:p>
              <a:pPr algn="ctr"/>
              <a:r>
                <a:rPr kumimoji="1" lang="en-US" altLang="zh-TW" dirty="0">
                  <a:latin typeface="BiauKai" panose="02010601000101010101" pitchFamily="2" charset="-120"/>
                  <a:ea typeface="BiauKai" panose="02010601000101010101" pitchFamily="2" charset="-120"/>
                </a:rPr>
                <a:t>1500 - 1800 </a:t>
              </a:r>
              <a:r>
                <a:rPr kumimoji="1" lang="zh-CN" altLang="en-US" dirty="0">
                  <a:latin typeface="BiauKai" panose="02010601000101010101" pitchFamily="2" charset="-120"/>
                  <a:ea typeface="BiauKai" panose="02010601000101010101" pitchFamily="2" charset="-120"/>
                </a:rPr>
                <a:t>毫秒</a:t>
              </a:r>
              <a:endPara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endParaRPr>
            </a:p>
          </p:txBody>
        </p:sp>
      </p:grp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0F443AF-5B18-A943-94BE-B634DD4F98AF}"/>
              </a:ext>
            </a:extLst>
          </p:cNvPr>
          <p:cNvSpPr txBox="1"/>
          <p:nvPr/>
        </p:nvSpPr>
        <p:spPr>
          <a:xfrm>
            <a:off x="5726366" y="6080600"/>
            <a:ext cx="25763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刺激物圖片</a:t>
            </a:r>
            <a:endParaRPr kumimoji="1" lang="en-US" altLang="zh-TW" dirty="0">
              <a:latin typeface="BiauKai" panose="02010601000101010101" pitchFamily="2" charset="-120"/>
              <a:ea typeface="BiauKai" panose="02010601000101010101" pitchFamily="2" charset="-120"/>
            </a:endParaRPr>
          </a:p>
          <a:p>
            <a:pPr algn="ctr"/>
            <a:r>
              <a:rPr kumimoji="1" lang="en-US" altLang="zh-TW">
                <a:latin typeface="BiauKai" panose="02010601000101010101" pitchFamily="2" charset="-120"/>
                <a:ea typeface="BiauKai" panose="02010601000101010101" pitchFamily="2" charset="-120"/>
              </a:rPr>
              <a:t>1</a:t>
            </a:r>
            <a:r>
              <a:rPr kumimoji="1" lang="en-US" altLang="zh-TW" dirty="0">
                <a:latin typeface="BiauKai" panose="02010601000101010101" pitchFamily="2" charset="-120"/>
                <a:ea typeface="BiauKai" panose="02010601000101010101" pitchFamily="2" charset="-120"/>
              </a:rPr>
              <a:t>0</a:t>
            </a:r>
            <a:r>
              <a:rPr kumimoji="1" lang="en-US" altLang="zh-CN">
                <a:latin typeface="BiauKai" panose="02010601000101010101" pitchFamily="2" charset="-120"/>
                <a:ea typeface="BiauKai" panose="02010601000101010101" pitchFamily="2" charset="-120"/>
              </a:rPr>
              <a:t>000 </a:t>
            </a:r>
            <a:r>
              <a:rPr kumimoji="1" lang="zh-CN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毫秒</a:t>
            </a:r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 或 直到反應</a:t>
            </a: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A68D8BAE-34EB-6743-8BD3-2010030A042E}"/>
              </a:ext>
            </a:extLst>
          </p:cNvPr>
          <p:cNvGrpSpPr/>
          <p:nvPr/>
        </p:nvGrpSpPr>
        <p:grpSpPr>
          <a:xfrm>
            <a:off x="10125628" y="4634661"/>
            <a:ext cx="1822153" cy="2092270"/>
            <a:chOff x="9125018" y="4455431"/>
            <a:chExt cx="1822153" cy="209227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50E8639-E9DF-AA4D-AC05-A94A63F477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5018" y="4455431"/>
              <a:ext cx="1822153" cy="12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Correct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4725CDFE-1EEA-F043-B1C1-65864E155763}"/>
                </a:ext>
              </a:extLst>
            </p:cNvPr>
            <p:cNvSpPr txBox="1"/>
            <p:nvPr/>
          </p:nvSpPr>
          <p:spPr>
            <a:xfrm>
              <a:off x="9482096" y="5901370"/>
              <a:ext cx="11079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dirty="0">
                  <a:latin typeface="BiauKai" panose="02010601000101010101" pitchFamily="2" charset="-120"/>
                  <a:ea typeface="BiauKai" panose="02010601000101010101" pitchFamily="2" charset="-120"/>
                </a:rPr>
                <a:t>作答回饋</a:t>
              </a:r>
              <a:endParaRPr kumimoji="1" lang="en-US" altLang="zh-TW" dirty="0">
                <a:latin typeface="BiauKai" panose="02010601000101010101" pitchFamily="2" charset="-120"/>
                <a:ea typeface="BiauKai" panose="02010601000101010101" pitchFamily="2" charset="-120"/>
              </a:endParaRPr>
            </a:p>
            <a:p>
              <a:pPr algn="ctr"/>
              <a:r>
                <a:rPr kumimoji="1" lang="en-US" altLang="zh-CN" dirty="0">
                  <a:latin typeface="BiauKai" panose="02010601000101010101" pitchFamily="2" charset="-120"/>
                  <a:ea typeface="BiauKai" panose="02010601000101010101" pitchFamily="2" charset="-120"/>
                </a:rPr>
                <a:t>500 </a:t>
              </a:r>
              <a:r>
                <a:rPr kumimoji="1" lang="zh-CN" altLang="en-US" dirty="0">
                  <a:latin typeface="BiauKai" panose="02010601000101010101" pitchFamily="2" charset="-120"/>
                  <a:ea typeface="BiauKai" panose="02010601000101010101" pitchFamily="2" charset="-120"/>
                </a:rPr>
                <a:t>毫秒</a:t>
              </a:r>
              <a:endPara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endParaRPr>
            </a:p>
          </p:txBody>
        </p:sp>
      </p:grp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6D28DB8C-A65C-4345-B076-37D4E22211A9}"/>
              </a:ext>
            </a:extLst>
          </p:cNvPr>
          <p:cNvSpPr txBox="1"/>
          <p:nvPr/>
        </p:nvSpPr>
        <p:spPr>
          <a:xfrm>
            <a:off x="3849347" y="4661276"/>
            <a:ext cx="1118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有</a:t>
            </a:r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目標物</a:t>
            </a:r>
          </a:p>
          <a:p>
            <a:pPr algn="ctr"/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按 </a:t>
            </a:r>
            <a:r>
              <a:rPr kumimoji="1" lang="en" altLang="zh-TW" dirty="0">
                <a:latin typeface="BiauKai" panose="02010601000101010101" pitchFamily="2" charset="-120"/>
                <a:ea typeface="BiauKai" panose="02010601000101010101" pitchFamily="2" charset="-120"/>
              </a:rPr>
              <a:t>J</a:t>
            </a:r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 鍵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76FE81F6-E423-FF40-B8E4-308AF2636C34}"/>
              </a:ext>
            </a:extLst>
          </p:cNvPr>
          <p:cNvSpPr txBox="1"/>
          <p:nvPr/>
        </p:nvSpPr>
        <p:spPr>
          <a:xfrm>
            <a:off x="7483588" y="3405994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無目標物</a:t>
            </a:r>
          </a:p>
          <a:p>
            <a:pPr algn="ctr"/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按</a:t>
            </a:r>
            <a:r>
              <a:rPr kumimoji="1" lang="en-US" altLang="zh-TW" dirty="0">
                <a:latin typeface="BiauKai" panose="02010601000101010101" pitchFamily="2" charset="-120"/>
                <a:ea typeface="BiauKai" panose="02010601000101010101" pitchFamily="2" charset="-120"/>
              </a:rPr>
              <a:t> </a:t>
            </a:r>
            <a:r>
              <a:rPr kumimoji="1" lang="en" altLang="zh-TW" dirty="0">
                <a:latin typeface="BiauKai" panose="02010601000101010101" pitchFamily="2" charset="-120"/>
                <a:ea typeface="BiauKai" panose="02010601000101010101" pitchFamily="2" charset="-120"/>
              </a:rPr>
              <a:t>F </a:t>
            </a:r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鍵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B2B804F-6F97-8886-E831-BB65141C0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532" y="3374661"/>
            <a:ext cx="1260000" cy="126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9899889-A7ED-E782-2B9F-012E5260B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045" y="4491436"/>
            <a:ext cx="1435644" cy="14356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F0F4AD5-22CD-7FE0-F19A-50C68F4A2936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4408647" y="5307607"/>
            <a:ext cx="1514072" cy="1884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3" name="圖片 12">
            <a:extLst>
              <a:ext uri="{FF2B5EF4-FFF2-40B4-BE49-F238E27FC236}">
                <a16:creationId xmlns:a16="http://schemas.microsoft.com/office/drawing/2014/main" id="{6202BB16-FF58-7B8A-CB73-A44535604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482" y="4472155"/>
            <a:ext cx="1435644" cy="14356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2" name="文字方塊 31">
            <a:extLst>
              <a:ext uri="{FF2B5EF4-FFF2-40B4-BE49-F238E27FC236}">
                <a16:creationId xmlns:a16="http://schemas.microsoft.com/office/drawing/2014/main" id="{A227E7B1-840E-89F2-F560-0B241EC4D0CE}"/>
              </a:ext>
            </a:extLst>
          </p:cNvPr>
          <p:cNvSpPr txBox="1"/>
          <p:nvPr/>
        </p:nvSpPr>
        <p:spPr>
          <a:xfrm>
            <a:off x="8717484" y="4647950"/>
            <a:ext cx="1408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有兩個目標物按</a:t>
            </a:r>
            <a:r>
              <a:rPr kumimoji="1" lang="en-US" altLang="zh-TW" dirty="0">
                <a:latin typeface="BiauKai" panose="02010601000101010101" pitchFamily="2" charset="-120"/>
                <a:ea typeface="BiauKai" panose="02010601000101010101" pitchFamily="2" charset="-120"/>
              </a:rPr>
              <a:t> </a:t>
            </a:r>
            <a:r>
              <a:rPr kumimoji="1" lang="en" altLang="zh-TW" dirty="0">
                <a:latin typeface="BiauKai" panose="02010601000101010101" pitchFamily="2" charset="-120"/>
                <a:ea typeface="BiauKai" panose="02010601000101010101" pitchFamily="2" charset="-120"/>
              </a:rPr>
              <a:t>K</a:t>
            </a:r>
            <a:r>
              <a:rPr kumimoji="1" lang="zh-TW" altLang="en-US" dirty="0">
                <a:latin typeface="BiauKai" panose="02010601000101010101" pitchFamily="2" charset="-120"/>
                <a:ea typeface="BiauKai" panose="02010601000101010101" pitchFamily="2" charset="-120"/>
              </a:rPr>
              <a:t>鍵</a:t>
            </a: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57AE732C-FB6F-9111-440D-9217C63EB268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8356060" y="4971116"/>
            <a:ext cx="361424" cy="872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B6E323A1-1C40-58FB-105E-30D4A9FB9D56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8356060" y="4971116"/>
            <a:ext cx="361424" cy="4499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466DEE5-9064-A3F0-914F-562DAAD624FC}"/>
              </a:ext>
            </a:extLst>
          </p:cNvPr>
          <p:cNvSpPr txBox="1"/>
          <p:nvPr/>
        </p:nvSpPr>
        <p:spPr>
          <a:xfrm>
            <a:off x="243191" y="4667080"/>
            <a:ext cx="1433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目標物</a:t>
            </a:r>
            <a:endParaRPr lang="en-US" altLang="zh-TW" dirty="0"/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1F48D941-8255-560B-0349-4A900554C67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6158" t="39258" r="33954" b="35089"/>
          <a:stretch/>
        </p:blipFill>
        <p:spPr>
          <a:xfrm>
            <a:off x="-43330" y="5058383"/>
            <a:ext cx="1440000" cy="6471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72155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151</Words>
  <Application>Microsoft Office PowerPoint</Application>
  <PresentationFormat>寬螢幕</PresentationFormat>
  <Paragraphs>16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BiauKai</vt:lpstr>
      <vt:lpstr>Arial</vt:lpstr>
      <vt:lpstr>Calibri</vt:lpstr>
      <vt:lpstr>Calibri Light</vt:lpstr>
      <vt:lpstr>Times New Roman</vt:lpstr>
      <vt:lpstr>Office 佈景主題</vt:lpstr>
      <vt:lpstr>視覺搜尋作業－實驗介紹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Hao-Lun Fu</dc:creator>
  <cp:lastModifiedBy>勝旭 黃</cp:lastModifiedBy>
  <cp:revision>15</cp:revision>
  <dcterms:created xsi:type="dcterms:W3CDTF">2021-07-08T19:18:41Z</dcterms:created>
  <dcterms:modified xsi:type="dcterms:W3CDTF">2022-08-21T00:10:12Z</dcterms:modified>
</cp:coreProperties>
</file>